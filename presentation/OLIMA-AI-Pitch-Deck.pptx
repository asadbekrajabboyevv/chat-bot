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[~10 s] Assalomu alaykum. Biz — TadbirkorAI jamoasi, Xorazmdanmiz. Loyihamiz — OLIMA AI Assistent: ta'lim muassasalari uchun murojaatlarga hujjat asosida, manbasi bilan javob beradigan yordamchi.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[~22 s] O'tgan yili 732 ming abituriyent davlat oliygohlariga hujjat topshirdi. Ularning savollari bir xil: kontrakt, qabul, ko'chirish, hujjatlar. Bugun bunga xodim qo'lda javob beradi, oddiy chatbot esa o'ylab topadi.
Bu muammoni biz o'ylab topmadik — vazirlik e'lon qilgan ro'yxatning 3-qatori: murojaatlarga avtomatik javob.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[~17 s] Tashkilot o'z hujjatlarini yuklaydi. Assistent saytda va Telegram'da 24 soat javob beradi va har javob ostida qaysi hujjatdan olganini ko'rsatadi. Shikoyatga esa o'zi javob bermaydi: arizani to'ldirib beradi, odam «Yuborish»ni bosadi va ariza mas'ul xodimga boradi.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[~10 s] Bu maket emas — hammasi serverda ishlab turibdi: tashkilot saytidagi assistent, shikoyat oqimi, admin panel va Telegram 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[~14 s] Bu raqamlar serverimizdan: ikki kunlik sinovda assistent 141 ta savolga manbasi bilan javob berdi, 18 ta shikoyatni xodimga yetkazdi. Yangi saytni ulash — bir kun.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[~15 s] Umumiy bozor — oliygohlar, kollejlar va idoralar, 700 ga yaqin tashkilot: yiliga 2,5 million dollar. Birinchi bozorimiz — 268 ta oliygoh, yiliga 960 ming dollar. Birinchi yil maqsadi — 10 ta mijoz, yiliga 24 ming dollar.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[~15 s] Pulni talaba emas, tashkilot to'laydi. Oliygoh uchun narx — oyiga 299 dollar. Bu bitta xodim oyligidan chorak arzon, lekin xodim 8 soat ishlaydi, assistent — kechayu kunduz. Bizga bitta javob 14 so'mga tushadi.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[~13 s] Raqobatchilar kuchli: ChatGPT, Chatbase, Nextbot. Lekin eng katta raqib — odat. Farqimiz: shikoyatni xodimga tasdiq bilan yetkazamiz va o'zbek tilida, joyida joriy qilamiz.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[~10 s] Jamoamiz — to'rt kishi, 1 yildan 6 yilgacha tajriba: mahsulot, backend, web va dizayn. Uch kunda ishlaydigan mahsulot qurib, serverga chiqardik. Xorazmdamiz — birinchi mijozlar bilan yuzma-yuz ishlaymiz.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[~16 s] Uch oyda — Xorazmda 10 ta sinov. Bir yilda — 10 ta to'lovchi mijoz. Uch yilda maqsad — 40 ta oliygoh, yiliga 144 ming dollar.
Bizga kerak: sinov uchun bitta oliygoh, vazirlik bilan hamkorlik va davlat xaridi bo'yicha mentorlik.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 s] OLIMA AI Assistent — taxmin emas, bilim. Har bir javobning manbasi bor. Rahmat! Endi jonli ko'rsatamiz.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557784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713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TA'LIM TREKI  ·  TADBIRKORAI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234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OLIMA AI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920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54203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Ta'lim muassasalari uchun — murojaatlarga hujjat asosida, manbasi bilan javob beradigan AI yordamchi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474720"/>
            <a:ext cx="27432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3474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4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Taxmin emas — bilim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4617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National AI Hackathon · Xorazm, 2026</a:t>
            </a:r>
            <a:endParaRPr lang="en-US" sz="1000" dirty="0"/>
          </a:p>
        </p:txBody>
      </p:sp>
      <p:pic>
        <p:nvPicPr>
          <p:cNvPr id="11" name="Image 1" descr="img/p-wid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691" y="320040"/>
            <a:ext cx="2890979" cy="452628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3B2A99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MUAMMO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 har kuni bir xil — javob esa har safar har xil</a:t>
            </a:r>
            <a:endParaRPr lang="en-US" sz="2700" dirty="0"/>
          </a:p>
        </p:txBody>
      </p:sp>
      <p:pic>
        <p:nvPicPr>
          <p:cNvPr id="4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73168"/>
            <a:ext cx="18288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4944" y="4791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OLIMA AI Assistent  ·  TadbirkorAI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91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3977640" cy="3246120"/>
          </a:xfrm>
          <a:prstGeom prst="roundRect">
            <a:avLst>
              <a:gd name="adj" fmla="val 2817"/>
            </a:avLst>
          </a:prstGeom>
          <a:solidFill>
            <a:srgbClr val="5B45F5"/>
          </a:solidFill>
          <a:ln w="9525">
            <a:solidFill>
              <a:srgbClr val="5B45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 YILDA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81051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732 411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51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abituriyent davlat oliygohlariga hujjat topshirdi (2025) — ularning savollari bir xil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456432"/>
            <a:ext cx="3429000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566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Vazirlik e'lon qilgan muammo, 3-qator: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«murojaatlarga avtomatik javob». Muammoni biz o'ylab topmadik.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479145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gazeta.uz, 26.06.2025 (UzBMB ma'lumoti)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kuni takrorlanadigan savollar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54880" y="1691640"/>
            <a:ext cx="3931920" cy="402336"/>
          </a:xfrm>
          <a:prstGeom prst="roundRect">
            <a:avLst>
              <a:gd name="adj" fmla="val 22727"/>
            </a:avLst>
          </a:prstGeom>
          <a:solidFill>
            <a:srgbClr val="F6F5FC"/>
          </a:solidFill>
          <a:ln w="9525">
            <a:solidFill>
              <a:srgbClr val="E4E2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19472" y="16916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Kontraktni bo'lib to'lasa bo'ladimi?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754880" y="2194560"/>
            <a:ext cx="3931920" cy="402336"/>
          </a:xfrm>
          <a:prstGeom prst="roundRect">
            <a:avLst>
              <a:gd name="adj" fmla="val 22727"/>
            </a:avLst>
          </a:prstGeom>
          <a:solidFill>
            <a:srgbClr val="F6F5FC"/>
          </a:solidFill>
          <a:ln w="9525">
            <a:solidFill>
              <a:srgbClr val="E4E2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19472" y="21945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qachon boshlanadi?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754880" y="2697480"/>
            <a:ext cx="3931920" cy="402336"/>
          </a:xfrm>
          <a:prstGeom prst="roundRect">
            <a:avLst>
              <a:gd name="adj" fmla="val 22727"/>
            </a:avLst>
          </a:prstGeom>
          <a:solidFill>
            <a:srgbClr val="F6F5FC"/>
          </a:solidFill>
          <a:ln w="9525">
            <a:solidFill>
              <a:srgbClr val="E4E2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19472" y="26974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O'qishni ko'chirish tartibi qanday?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754880" y="3200400"/>
            <a:ext cx="3931920" cy="402336"/>
          </a:xfrm>
          <a:prstGeom prst="roundRect">
            <a:avLst>
              <a:gd name="adj" fmla="val 22727"/>
            </a:avLst>
          </a:prstGeom>
          <a:solidFill>
            <a:srgbClr val="F6F5FC"/>
          </a:solidFill>
          <a:ln w="9525">
            <a:solidFill>
              <a:srgbClr val="E4E2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919472" y="3200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hujjatlar kerak?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754880" y="37490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4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Bugun: </a:t>
            </a:r>
            <a:pPr indent="0" marL="0">
              <a:buNone/>
            </a:pPr>
            <a:r>
              <a:rPr lang="en-US" sz="1600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xodim qo'lda javob beradi — yoki oddiy chatbot javobni o'ylab topadi.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YECHIM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 — faqat tashkilotning o'z hujjatidan</a:t>
            </a:r>
            <a:endParaRPr lang="en-US" sz="2700" dirty="0"/>
          </a:p>
        </p:txBody>
      </p:sp>
      <p:pic>
        <p:nvPicPr>
          <p:cNvPr id="4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73168"/>
            <a:ext cx="18288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4944" y="4791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OLIMA AI Assistent  ·  TadbirkorAI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91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4E2F3"/>
            </a:solidFill>
            <a:prstDash val="solid"/>
          </a:ln>
          <a:effectLst>
            <a:outerShdw sx="100000" sy="100000" kx="0" ky="0" algn="bl" rotWithShape="0" blurRad="152400" dist="38100" dir="5400000">
              <a:srgbClr val="3B2A99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600200"/>
            <a:ext cx="384048" cy="384048"/>
          </a:xfrm>
          <a:prstGeom prst="ellipse">
            <a:avLst/>
          </a:prstGeom>
          <a:solidFill>
            <a:srgbClr val="5B45F5"/>
          </a:solidFill>
          <a:ln w="12700">
            <a:solidFill>
              <a:srgbClr val="5B45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1214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 yuklanadi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6060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Tashkilot o'z nizomi, qarorlari va narxlarini yuklaydi. Dasturchi kerak emas.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4E2F3"/>
            </a:solidFill>
            <a:prstDash val="solid"/>
          </a:ln>
          <a:effectLst>
            <a:outerShdw sx="100000" sy="100000" kx="0" ky="0" algn="bl" rotWithShape="0" blurRad="152400" dist="38100" dir="5400000">
              <a:srgbClr val="3B2A99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1600200"/>
            <a:ext cx="384048" cy="384048"/>
          </a:xfrm>
          <a:prstGeom prst="ellipse">
            <a:avLst/>
          </a:prstGeom>
          <a:solidFill>
            <a:srgbClr val="5B45F5"/>
          </a:solidFill>
          <a:ln w="12700">
            <a:solidFill>
              <a:srgbClr val="5B45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747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1214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Manbali javob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6060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 saytda va Telegram'da 24/7 javob beradi va qaysi hujjatdan olganini ko'rsatadi.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35040" y="13716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4E2F3"/>
            </a:solidFill>
            <a:prstDash val="solid"/>
          </a:ln>
          <a:effectLst>
            <a:outerShdw sx="100000" sy="100000" kx="0" ky="0" algn="bl" rotWithShape="0" blurRad="152400" dist="38100" dir="5400000">
              <a:srgbClr val="3B2A99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63640" y="1600200"/>
            <a:ext cx="384048" cy="384048"/>
          </a:xfrm>
          <a:prstGeom prst="ellipse">
            <a:avLst/>
          </a:prstGeom>
          <a:solidFill>
            <a:srgbClr val="5B45F5"/>
          </a:solidFill>
          <a:ln w="12700">
            <a:solidFill>
              <a:srgbClr val="5B45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63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1214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Shikoyat — xodimga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26060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Shikoyatga bot o'zi javob bermaydi: arizani to'ldiradi, odam «Yuborish»ni bosadi — ariza mas'ul xodimga boradi.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EEBFF"/>
          </a:solidFill>
          <a:ln w="9525">
            <a:solidFill>
              <a:srgbClr val="EEEB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93192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33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Bilsa — manbasi bilan aytadi. Topilmasa — savolni xodimga uzatadi.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MAHSULOT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Ishlaydi: saytdagi assistent, Telegram bot va admin panel</a:t>
            </a:r>
            <a:endParaRPr lang="en-US" sz="2700" dirty="0"/>
          </a:p>
        </p:txBody>
      </p:sp>
      <p:pic>
        <p:nvPicPr>
          <p:cNvPr id="4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73168"/>
            <a:ext cx="18288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4944" y="4791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OLIMA AI Assistent  ·  TadbirkorAI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91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  <p:pic>
        <p:nvPicPr>
          <p:cNvPr id="7" name="Image 1" descr="img/p-wid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58" y="1280160"/>
            <a:ext cx="2014925" cy="315468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3B2A99">
                <a:alpha val="2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524158" y="4480560"/>
            <a:ext cx="20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 + manba</a:t>
            </a:r>
            <a:endParaRPr lang="en-US" sz="1200" dirty="0"/>
          </a:p>
        </p:txBody>
      </p:sp>
      <p:pic>
        <p:nvPicPr>
          <p:cNvPr id="9" name="Image 2" descr="img/p-compla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158" y="1280160"/>
            <a:ext cx="2014925" cy="315468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3B2A99">
                <a:alpha val="25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2810158" y="4480560"/>
            <a:ext cx="20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Shikoyat → tasdiq</a:t>
            </a:r>
            <a:endParaRPr lang="en-US" sz="1200" dirty="0"/>
          </a:p>
        </p:txBody>
      </p:sp>
      <p:pic>
        <p:nvPicPr>
          <p:cNvPr id="11" name="Image 3" descr="img/p-d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380" y="1280160"/>
            <a:ext cx="2600960" cy="146304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3B2A99">
                <a:alpha val="25000"/>
              </a:srgbClr>
            </a:outerShdw>
          </a:effectLst>
        </p:spPr>
      </p:pic>
      <p:sp>
        <p:nvSpPr>
          <p:cNvPr id="12" name="Text 6"/>
          <p:cNvSpPr txBox="1"/>
          <p:nvPr/>
        </p:nvSpPr>
        <p:spPr>
          <a:xfrm>
            <a:off x="5074920" y="277063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Tashkilot admini paneli</a:t>
            </a:r>
            <a:endParaRPr lang="en-US" sz="1200" dirty="0"/>
          </a:p>
        </p:txBody>
      </p:sp>
      <p:pic>
        <p:nvPicPr>
          <p:cNvPr id="13" name="Image 4" descr="img/p-telegr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1020" y="3017520"/>
            <a:ext cx="2519680" cy="14173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3B2A99">
                <a:alpha val="25000"/>
              </a:srgbClr>
            </a:outerShdw>
          </a:effectLst>
        </p:spPr>
      </p:pic>
      <p:sp>
        <p:nvSpPr>
          <p:cNvPr id="14" name="Text 7"/>
          <p:cNvSpPr txBox="1"/>
          <p:nvPr/>
        </p:nvSpPr>
        <p:spPr>
          <a:xfrm>
            <a:off x="5074920" y="448056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— bitta token bilan ulanadi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DALIL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G'oya emas — serverda ishlab turgan mahsulot</a:t>
            </a:r>
            <a:endParaRPr lang="en-US" sz="2700" dirty="0"/>
          </a:p>
        </p:txBody>
      </p:sp>
      <p:pic>
        <p:nvPicPr>
          <p:cNvPr id="4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73168"/>
            <a:ext cx="18288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4944" y="4791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OLIMA AI Assistent  ·  TadbirkorAI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91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1938528" cy="2103120"/>
          </a:xfrm>
          <a:prstGeom prst="roundRect">
            <a:avLst>
              <a:gd name="adj" fmla="val 4717"/>
            </a:avLst>
          </a:prstGeom>
          <a:solidFill>
            <a:srgbClr val="5B45F5"/>
          </a:solidFill>
          <a:ln w="9525">
            <a:solidFill>
              <a:srgbClr val="5B45F5"/>
            </a:solidFill>
            <a:prstDash val="solid"/>
          </a:ln>
          <a:effectLst>
            <a:outerShdw sx="100000" sy="100000" kx="0" ky="0" algn="bl" rotWithShape="0" blurRad="152400" dist="38100" dir="5400000">
              <a:srgbClr val="3B2A99">
                <a:alpha val="1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1783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savolga javob berildi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72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birining ostida manba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542032" y="1600200"/>
            <a:ext cx="1938528" cy="210312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4E2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24912" y="1783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B4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2724912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shikoyat xodimga yetkazildi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724912" y="3172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odam tasdiqlagandan keyin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626864" y="1600200"/>
            <a:ext cx="1938528" cy="210312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4E2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09744" y="1783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B4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4809744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 yuklandi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809744" y="3172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nizom, qarorlar, narxlar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711696" y="1600200"/>
            <a:ext cx="1938528" cy="210312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4E2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94576" y="1783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B4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kun</a:t>
            </a:r>
            <a:endParaRPr lang="en-US" sz="4400" dirty="0"/>
          </a:p>
        </p:txBody>
      </p:sp>
      <p:sp>
        <p:nvSpPr>
          <p:cNvPr id="21" name="Text 18"/>
          <p:cNvSpPr txBox="1"/>
          <p:nvPr/>
        </p:nvSpPr>
        <p:spPr>
          <a:xfrm>
            <a:off x="6894576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saytni ulash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894576" y="3172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portal — bir qator kod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383280" y="479145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OLIMA server bazasi · sinov 18–19.09.2026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BOZOR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yiliga $2,5 mln — biz oliygohlardan boshlaymiz</a:t>
            </a:r>
            <a:endParaRPr lang="en-US" sz="2700" dirty="0"/>
          </a:p>
        </p:txBody>
      </p:sp>
      <p:pic>
        <p:nvPicPr>
          <p:cNvPr id="4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73168"/>
            <a:ext cx="18288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4944" y="4791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OLIMA AI Assistent  ·  TadbirkorAI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91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596896" cy="301752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9525">
            <a:solidFill>
              <a:srgbClr val="E4E2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1572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4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 · UMUMIY BOZOR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4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 mln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yiliga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" y="2944368"/>
            <a:ext cx="2194560" cy="0"/>
          </a:xfrm>
          <a:prstGeom prst="line">
            <a:avLst/>
          </a:prstGeom>
          <a:noFill/>
          <a:ln w="9525">
            <a:solidFill>
              <a:srgbClr val="E4E2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6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~700 tashkilot × $299 × 12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33832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oliygohlar, kollej va texnikumlar, vazirlik va idoralar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054096" y="25603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3273552" y="1371600"/>
            <a:ext cx="2596896" cy="3017520"/>
          </a:xfrm>
          <a:prstGeom prst="roundRect">
            <a:avLst>
              <a:gd name="adj" fmla="val 3521"/>
            </a:avLst>
          </a:prstGeom>
          <a:solidFill>
            <a:srgbClr val="5B45F5"/>
          </a:solidFill>
          <a:ln w="9525">
            <a:solidFill>
              <a:srgbClr val="5B45F5"/>
            </a:solidFill>
            <a:prstDash val="solid"/>
          </a:ln>
          <a:effectLst>
            <a:outerShdw sx="100000" sy="100000" kx="0" ky="0" algn="bl" rotWithShape="0" blurRad="152400" dist="38100" dir="5400000">
              <a:srgbClr val="3B2A99">
                <a:alpha val="16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3474720" y="1572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 · BIRINCHI BOZOR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$960 000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yiliga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474720" y="2944368"/>
            <a:ext cx="219456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47472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268 oliygoh × $299 × 12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3474720" y="33832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O'zbekistondagi barcha oliygohlar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25603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0"/>
          <p:cNvSpPr/>
          <p:nvPr/>
        </p:nvSpPr>
        <p:spPr>
          <a:xfrm>
            <a:off x="6089904" y="1371600"/>
            <a:ext cx="2596896" cy="301752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9525">
            <a:solidFill>
              <a:srgbClr val="E4E2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91072" y="1572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4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 · 1-YIL MAQSADI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291072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4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$24 000</a:t>
            </a:r>
            <a:endParaRPr lang="en-US" sz="4000" dirty="0"/>
          </a:p>
        </p:txBody>
      </p:sp>
      <p:sp>
        <p:nvSpPr>
          <p:cNvPr id="26" name="Text 23"/>
          <p:cNvSpPr txBox="1"/>
          <p:nvPr/>
        </p:nvSpPr>
        <p:spPr>
          <a:xfrm>
            <a:off x="6291072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yiliga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91072" y="2944368"/>
            <a:ext cx="2194560" cy="0"/>
          </a:xfrm>
          <a:prstGeom prst="line">
            <a:avLst/>
          </a:prstGeom>
          <a:noFill/>
          <a:ln w="9525">
            <a:solidFill>
              <a:srgbClr val="E4E2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91072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6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ta to'lovchi mijoz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6291072" y="33832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 markazlari + oliygoh, aralash tarif — SAM ning 2,5%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383280" y="479145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— HEMIS (19.09.2026) · 225 vazirlik/idora — stat.uz · ~200 kollej/texnikum — taxmin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BIZNES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Tashkilot to'laydi — talaba bepul foydalanadi</a:t>
            </a:r>
            <a:endParaRPr lang="en-US" sz="2700" dirty="0"/>
          </a:p>
        </p:txBody>
      </p:sp>
      <p:pic>
        <p:nvPicPr>
          <p:cNvPr id="4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73168"/>
            <a:ext cx="18288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4944" y="4791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OLIMA AI Assistent  ·  TadbirkorAI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91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25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4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TARIFLAR · OYIGA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28346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2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645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4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645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 markazi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2834640" cy="731520"/>
          </a:xfrm>
          <a:prstGeom prst="roundRect">
            <a:avLst>
              <a:gd name="adj" fmla="val 12500"/>
            </a:avLst>
          </a:prstGeom>
          <a:solidFill>
            <a:srgbClr val="EEEBFF"/>
          </a:solidFill>
          <a:ln w="9525">
            <a:solidFill>
              <a:srgbClr val="EEEB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5146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4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oliygoh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28346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2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3832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4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$1 500+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3383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vazirlik, o'z serverida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611880" y="1325880"/>
            <a:ext cx="2423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4E2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40480" y="1508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XODIM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840480" y="1783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~$400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soat · ish kunlari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263640" y="1325880"/>
            <a:ext cx="2423160" cy="2103120"/>
          </a:xfrm>
          <a:prstGeom prst="roundRect">
            <a:avLst>
              <a:gd name="adj" fmla="val 4348"/>
            </a:avLst>
          </a:prstGeom>
          <a:solidFill>
            <a:srgbClr val="5B45F5"/>
          </a:solidFill>
          <a:ln w="9525">
            <a:solidFill>
              <a:srgbClr val="5B45F5"/>
            </a:solidFill>
            <a:prstDash val="solid"/>
          </a:ln>
          <a:effectLst>
            <a:outerShdw sx="100000" sy="100000" kx="0" ky="0" algn="bl" rotWithShape="0" blurRad="152400" dist="38100" dir="5400000">
              <a:srgbClr val="3B2A99">
                <a:alpha val="16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492240" y="1508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OLIMA AI ASSISTENT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1783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</a:t>
            </a:r>
            <a:endParaRPr lang="en-US" sz="40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· kechasi ham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035040" y="21488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611880" y="3611880"/>
            <a:ext cx="5074920" cy="731520"/>
          </a:xfrm>
          <a:prstGeom prst="roundRect">
            <a:avLst>
              <a:gd name="adj" fmla="val 12500"/>
            </a:avLst>
          </a:prstGeom>
          <a:solidFill>
            <a:srgbClr val="EEEBFF"/>
          </a:solidFill>
          <a:ln w="9525">
            <a:solidFill>
              <a:srgbClr val="EEEB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611880" y="361188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33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arzon — 4 barobar ko'p vaqt ishlaydi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3383280" y="479145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Xodim ~5 mln so'm/oy — taxmin · bitta javob tannarxi 14 so'm, marja ~90% · ulab berish $500–2 000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RAQOBAT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katta raqib — odat: xodim qo'lda javob beradi</a:t>
            </a:r>
            <a:endParaRPr lang="en-US" sz="2700" dirty="0"/>
          </a:p>
        </p:txBody>
      </p:sp>
      <p:pic>
        <p:nvPicPr>
          <p:cNvPr id="4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73168"/>
            <a:ext cx="18288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4944" y="4791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OLIMA AI Assistent  ·  TadbirkorAI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91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25880"/>
                <a:gridCol w="1234440"/>
                <a:gridCol w="1554480"/>
                <a:gridCol w="137160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Xodim qo'lda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Chatbase, Nextbot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OLIMA AI Assistent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5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Tashkilot hujjatidan javob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qisman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Manbani ko'rsatadi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qisman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4C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qisman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Shikoyat → xodimga, tasdiq bilan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4C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4C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Saytda va Telegram'da 24/7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4C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4C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O'zbek tili, joyida joriy etish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qisman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4C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maosh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 / xodim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$40–500 / oy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 dan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383280" y="479145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Chatbase, Nextbot — ochiq tariflar (sentabr 2026). Ular kuchli — farqimiz: shikoyat oqimi va mahalliylik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JAMOA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To'rt kishi: mahsulot, backend, web va dizayn</a:t>
            </a:r>
            <a:endParaRPr lang="en-US" sz="2700" dirty="0"/>
          </a:p>
        </p:txBody>
      </p:sp>
      <p:pic>
        <p:nvPicPr>
          <p:cNvPr id="4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73168"/>
            <a:ext cx="18288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4944" y="4791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OLIMA AI Assistent  ·  TadbirkorAI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91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38528" cy="251460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4E2F3"/>
            </a:solidFill>
            <a:prstDash val="solid"/>
          </a:ln>
          <a:effectLst>
            <a:outerShdw sx="100000" sy="100000" kx="0" ky="0" algn="bl" rotWithShape="0" blurRad="152400" dist="38100" dir="5400000">
              <a:srgbClr val="3B2A99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60704" y="1554480"/>
            <a:ext cx="731520" cy="731520"/>
          </a:xfrm>
          <a:prstGeom prst="ellipse">
            <a:avLst/>
          </a:prstGeom>
          <a:solidFill>
            <a:srgbClr val="5B45F5"/>
          </a:solidFill>
          <a:ln w="12700">
            <a:solidFill>
              <a:srgbClr val="5B45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60704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3957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Mukhammadsolayev Akbar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285292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4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rahbari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310896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yil tajriba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36499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Arxitektura, mahsulot, qidiruv va iqtibos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542032" y="1371600"/>
            <a:ext cx="1938528" cy="251460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4E2F3"/>
            </a:solidFill>
            <a:prstDash val="solid"/>
          </a:ln>
          <a:effectLst>
            <a:outerShdw sx="100000" sy="100000" kx="0" ky="0" algn="bl" rotWithShape="0" blurRad="152400" dist="38100" dir="5400000">
              <a:srgbClr val="3B2A99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45536" y="1554480"/>
            <a:ext cx="731520" cy="731520"/>
          </a:xfrm>
          <a:prstGeom prst="ellipse">
            <a:avLst/>
          </a:prstGeom>
          <a:solidFill>
            <a:srgbClr val="5B45F5"/>
          </a:solidFill>
          <a:ln w="12700">
            <a:solidFill>
              <a:srgbClr val="5B45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45536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2651760" y="23957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Rajabboyev Asadbek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651760" y="285292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4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2651760" y="310896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yil tajriba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2679192" y="336499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AI agent, Telegram bot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26864" y="1371600"/>
            <a:ext cx="1938528" cy="251460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4E2F3"/>
            </a:solidFill>
            <a:prstDash val="solid"/>
          </a:ln>
          <a:effectLst>
            <a:outerShdw sx="100000" sy="100000" kx="0" ky="0" algn="bl" rotWithShape="0" blurRad="152400" dist="38100" dir="5400000">
              <a:srgbClr val="3B2A99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230368" y="1554480"/>
            <a:ext cx="731520" cy="731520"/>
          </a:xfrm>
          <a:prstGeom prst="ellipse">
            <a:avLst/>
          </a:prstGeom>
          <a:solidFill>
            <a:srgbClr val="5B45F5"/>
          </a:solidFill>
          <a:ln w="12700">
            <a:solidFill>
              <a:srgbClr val="5B45F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230368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4736592" y="23957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Meyliboyev Meyliboy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736592" y="285292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4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736592" y="310896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yil tajriba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4764024" y="336499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panel, assistent oynasi, demo sayt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711696" y="1371600"/>
            <a:ext cx="1938528" cy="251460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4E2F3"/>
            </a:solidFill>
            <a:prstDash val="solid"/>
          </a:ln>
          <a:effectLst>
            <a:outerShdw sx="100000" sy="100000" kx="0" ky="0" algn="bl" rotWithShape="0" blurRad="152400" dist="38100" dir="5400000">
              <a:srgbClr val="3B2A99">
                <a:alpha val="1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315200" y="1554480"/>
            <a:ext cx="731520" cy="731520"/>
          </a:xfrm>
          <a:prstGeom prst="ellipse">
            <a:avLst/>
          </a:prstGeom>
          <a:solidFill>
            <a:srgbClr val="5B45F5"/>
          </a:solidFill>
          <a:ln w="12700">
            <a:solidFill>
              <a:srgbClr val="5B45F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6821424" y="23957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Bobonazarov Jasurbek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821424" y="285292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4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Dizayn / UI-UX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6821424" y="3108960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yil tajriba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6848856" y="336499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oqimi, interfeys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069080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EEEBFF"/>
          </a:solidFill>
          <a:ln w="9525">
            <a:solidFill>
              <a:srgbClr val="EEEB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" y="406908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3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biz: 3 kunda ishlaydigan mahsulot qurdik va serverga chiqardik. Xorazmdamiz — birinchi mijozlar bilan yuzma-yuz ishlaymiz.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REJA VA SO'ROV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Sinovdan — to'lovchi mijozlarga</a:t>
            </a:r>
            <a:endParaRPr lang="en-US" sz="2700" dirty="0"/>
          </a:p>
        </p:txBody>
      </p:sp>
      <p:pic>
        <p:nvPicPr>
          <p:cNvPr id="4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73168"/>
            <a:ext cx="18288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4944" y="4791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OLIMA AI Assistent  ·  TadbirkorAI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91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85800" y="1627632"/>
            <a:ext cx="4937760" cy="0"/>
          </a:xfrm>
          <a:prstGeom prst="line">
            <a:avLst/>
          </a:prstGeom>
          <a:noFill/>
          <a:ln w="25400">
            <a:solidFill>
              <a:srgbClr val="E4E2F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499616"/>
            <a:ext cx="256032" cy="256032"/>
          </a:xfrm>
          <a:prstGeom prst="ellipse">
            <a:avLst/>
          </a:prstGeom>
          <a:solidFill>
            <a:srgbClr val="5B45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920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4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OY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Xorazmda 10 ta sinov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 markazlari va 1 oliygoh; aniqlikni oshiramiz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350008" y="1499616"/>
            <a:ext cx="256032" cy="256032"/>
          </a:xfrm>
          <a:prstGeom prst="ellipse">
            <a:avLst/>
          </a:prstGeom>
          <a:solidFill>
            <a:srgbClr val="5B45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40280" y="1920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4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YIL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 to'lovchi mijoz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240280" y="2926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yiliga ~$24 000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133088" y="1499616"/>
            <a:ext cx="256032" cy="256032"/>
          </a:xfrm>
          <a:prstGeom prst="ellipse">
            <a:avLst/>
          </a:prstGeom>
          <a:solidFill>
            <a:srgbClr val="5B45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23360" y="1920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4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YIL · MAQSAD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ta oliygoh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023360" y="2926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yiliga ~$144 000 — oliygoh bozorining 15%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943600" y="132588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5B45F5"/>
          </a:solidFill>
          <a:ln w="9525">
            <a:solidFill>
              <a:srgbClr val="5B45F5"/>
            </a:solidFill>
            <a:prstDash val="solid"/>
          </a:ln>
          <a:effectLst>
            <a:outerShdw sx="100000" sy="100000" kx="0" ky="0" algn="bl" rotWithShape="0" blurRad="152400" dist="38100" dir="5400000">
              <a:srgbClr val="3B2A99">
                <a:alpha val="16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172200" y="1554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BIZGA KERAK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 uchun 1 ta oliygoh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6172200" y="2743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Vazirlik bilan hamkorlik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6172200" y="35661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Mentorlik: davlat xaridi va ma'lumot xavfsizligi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68580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248" y="749808"/>
            <a:ext cx="603504" cy="6035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OLIMA AI Assistent — taxmin emas, bilim.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javobning manbasi bor.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+998 97 198 17 18   ·   +998 99 159 49 46   ·   +998 94 769 79 91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TadbirkorAI  ·  demo: oliytalim.178-105-158-192.sslip.io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OLIMA AI Assistent — Final pitch (3 daqiqa)</dc:title>
  <dc:subject>PptxGenJS Presentation</dc:subject>
  <dc:creator>TadbirkorAI</dc:creator>
  <cp:lastModifiedBy>TadbirkorAI</cp:lastModifiedBy>
  <cp:revision>1</cp:revision>
  <dcterms:created xsi:type="dcterms:W3CDTF">2026-09-19T12:49:50Z</dcterms:created>
  <dcterms:modified xsi:type="dcterms:W3CDTF">2026-09-19T12:49:50Z</dcterms:modified>
</cp:coreProperties>
</file>